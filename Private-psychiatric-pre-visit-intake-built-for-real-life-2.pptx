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Commissioner"/>
      <p:regular r:id="rId201314"/>
    </p:embeddedFont>
    <p:embeddedFont>
      <p:font typeface="Commissioner Medium"/>
      <p:regular r:id="rId201315"/>
    </p:embeddedFont>
    <p:embeddedFont>
      <p:font typeface="Commissioner SemiBold"/>
      <p:regular r:id="rId201316"/>
    </p:embeddedFont>
    <p:embeddedFont>
      <p:font typeface="Commissioner Bold"/>
      <p:regular r:id="rId201317"/>
    </p:embeddedFont>
    <p:embeddedFont>
      <p:font typeface="Young Serif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BA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3D8E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7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3555"/>
            </a:avLst>
          </a:prstGeom>
          <a:solidFill>
            <a:srgbClr val="A85A2C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01217"/>
            <a:ext cx="6666341" cy="4338241"/>
          </a:xfrm>
          <a:prstGeom prst="roundRect">
            <a:avLst>
              <a:gd name="adj" fmla="val 5621"/>
            </a:avLst>
          </a:prstGeom>
          <a:solidFill>
            <a:srgbClr val="1F7A7A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2121098"/>
            <a:ext cx="656474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PRIVATE PSYCHIATRIC PRE-VISIT INTAKE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5591" y="2472095"/>
            <a:ext cx="5955159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000" spc="-90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Built for </a:t>
            </a:r>
            <a:pPr algn="l" indent="0" marL="0">
              <a:lnSpc>
                <a:spcPct val="85000"/>
              </a:lnSpc>
              <a:buNone/>
            </a:pPr>
            <a:r>
              <a:rPr lang="en-US" sz="6000" u="sng" spc="-90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real life</a:t>
            </a:r>
            <a:pPr algn="l" indent="0" marL="0">
              <a:lnSpc>
                <a:spcPct val="85000"/>
              </a:lnSpc>
              <a:buNone/>
            </a:pPr>
            <a:r>
              <a:rPr lang="en-US" sz="6000" spc="-90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55591" y="4194413"/>
            <a:ext cx="595515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 conversational intake tool that helps patients tell their story before the appointment and gives clinicians a concise, structured starting point.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5591" y="5309195"/>
            <a:ext cx="595515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Commissioner Medium" pitchFamily="34" charset="0"/>
                <a:ea typeface="Commissioner Medium" pitchFamily="34" charset="-122"/>
                <a:cs typeface="Commissioner Medium" pitchFamily="34" charset="-120"/>
              </a:rPr>
              <a:t>It starts with a warm, non-judgmental conversation, then transitions to structured psychiatric intake—an app, not a person, therapist, or friend, and never a substitute for clinical care.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161" cy="6858000"/>
          </a:xfrm>
          <a:prstGeom prst="rect">
            <a:avLst/>
          </a:prstGeom>
          <a:solidFill>
            <a:srgbClr val="5A3D8E"/>
          </a:solidFill>
          <a:ln/>
        </p:spPr>
      </p:sp>
      <p:sp>
        <p:nvSpPr>
          <p:cNvPr id="3" name="Text 1"/>
          <p:cNvSpPr/>
          <p:nvPr/>
        </p:nvSpPr>
        <p:spPr>
          <a:xfrm>
            <a:off x="660383" y="686689"/>
            <a:ext cx="581139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34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Extent of the problem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416923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9968" y="1491893"/>
            <a:ext cx="520181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Trust gap: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 Patients fear intimate thoughts will be tracked, sold, or leaked.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2608144"/>
            <a:ext cx="431789" cy="4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9968" y="2683113"/>
            <a:ext cx="52018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Stigma: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 Shame and isolation can delay help-seeking.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3497144"/>
            <a:ext cx="431789" cy="431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69968" y="3572113"/>
            <a:ext cx="520181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Intake bottleneck: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 Weeks of psychological and physical symptoms must be compressed into a short appointment.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4990584"/>
            <a:ext cx="431789" cy="431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69968" y="5065554"/>
            <a:ext cx="520181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Access gap: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 Cloud-dependent tools fail when connectivity or mobile data runs out.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7436855" y="0"/>
            <a:ext cx="4754840" cy="6858000"/>
          </a:xfrm>
          <a:prstGeom prst="roundRect">
            <a:avLst>
              <a:gd name="adj" fmla="val 5128"/>
            </a:avLst>
          </a:prstGeom>
          <a:solidFill>
            <a:srgbClr val="A84636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5449" y="228600"/>
            <a:ext cx="4297652" cy="5689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65449" y="6025356"/>
            <a:ext cx="429765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Commissioner Medium" pitchFamily="34" charset="0"/>
                <a:ea typeface="Commissioner Medium" pitchFamily="34" charset="-122"/>
                <a:cs typeface="Commissioner Medium" pitchFamily="34" charset="-120"/>
              </a:rPr>
              <a:t>Built for psychiatric patients, psychiatrists, psychologists, intake nurses, care teams, clinics, university counseling centers, rural health programs, and community services.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660383" y="2308423"/>
            <a:ext cx="5811394" cy="12700"/>
          </a:xfrm>
          <a:prstGeom prst="rect">
            <a:avLst/>
          </a:prstGeom>
          <a:solidFill>
            <a:srgbClr val="D6CDBD"/>
          </a:solidFill>
          <a:ln/>
        </p:spPr>
      </p:sp>
      <p:sp>
        <p:nvSpPr>
          <p:cNvPr id="16" name="Shape 9"/>
          <p:cNvSpPr/>
          <p:nvPr/>
        </p:nvSpPr>
        <p:spPr>
          <a:xfrm>
            <a:off x="660383" y="3197423"/>
            <a:ext cx="5811394" cy="12700"/>
          </a:xfrm>
          <a:prstGeom prst="rect">
            <a:avLst/>
          </a:prstGeom>
          <a:solidFill>
            <a:srgbClr val="D6CDBD"/>
          </a:solidFill>
          <a:ln/>
        </p:spPr>
      </p:sp>
      <p:sp>
        <p:nvSpPr>
          <p:cNvPr id="17" name="Shape 10"/>
          <p:cNvSpPr/>
          <p:nvPr/>
        </p:nvSpPr>
        <p:spPr>
          <a:xfrm>
            <a:off x="660383" y="4690864"/>
            <a:ext cx="5811394" cy="12700"/>
          </a:xfrm>
          <a:prstGeom prst="rect">
            <a:avLst/>
          </a:prstGeom>
          <a:solidFill>
            <a:srgbClr val="D6CDB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331089"/>
            <a:ext cx="1087092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34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Our solution and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0383" y="1006713"/>
            <a:ext cx="1087092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 friendly, non-judgmental conversation leads into structured psychiatric intake—not a human, therapist, friend, or substitute for clinical care.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0383" y="1728192"/>
            <a:ext cx="2489138" cy="3779738"/>
          </a:xfrm>
          <a:prstGeom prst="roundRect">
            <a:avLst>
              <a:gd name="adj" fmla="val 9796"/>
            </a:avLst>
          </a:prstGeom>
          <a:solidFill>
            <a:srgbClr val="DDE4D6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1956792"/>
            <a:ext cx="848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88978" y="2259013"/>
            <a:ext cx="2031850" cy="19050"/>
          </a:xfrm>
          <a:prstGeom prst="rect">
            <a:avLst/>
          </a:prstGeom>
          <a:solidFill>
            <a:srgbClr val="E8A93A"/>
          </a:solidFill>
          <a:ln/>
        </p:spPr>
      </p:sp>
      <p:sp>
        <p:nvSpPr>
          <p:cNvPr id="7" name="Text 5"/>
          <p:cNvSpPr/>
          <p:nvPr/>
        </p:nvSpPr>
        <p:spPr>
          <a:xfrm>
            <a:off x="888978" y="2423735"/>
            <a:ext cx="203194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Chatbot session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8978" y="2876788"/>
            <a:ext cx="2031949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Friendly conversation transitions smoothly into health-related questions.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54314" y="1728192"/>
            <a:ext cx="2489138" cy="3779738"/>
          </a:xfrm>
          <a:prstGeom prst="roundRect">
            <a:avLst>
              <a:gd name="adj" fmla="val 9796"/>
            </a:avLst>
          </a:prstGeom>
          <a:solidFill>
            <a:srgbClr val="EDE3D3"/>
          </a:solidFill>
          <a:ln/>
        </p:spPr>
      </p:sp>
      <p:sp>
        <p:nvSpPr>
          <p:cNvPr id="10" name="Text 8"/>
          <p:cNvSpPr/>
          <p:nvPr/>
        </p:nvSpPr>
        <p:spPr>
          <a:xfrm>
            <a:off x="3682908" y="1956792"/>
            <a:ext cx="87290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82908" y="2259013"/>
            <a:ext cx="2031850" cy="19050"/>
          </a:xfrm>
          <a:prstGeom prst="rect">
            <a:avLst/>
          </a:prstGeom>
          <a:solidFill>
            <a:srgbClr val="E8A9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82908" y="2423735"/>
            <a:ext cx="203194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Summary generation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82908" y="3173948"/>
            <a:ext cx="2031949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Self-reported psychological and physical symptoms become a clinician-ready summary.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1728192"/>
            <a:ext cx="2489138" cy="3779738"/>
          </a:xfrm>
          <a:prstGeom prst="roundRect">
            <a:avLst>
              <a:gd name="adj" fmla="val 9796"/>
            </a:avLst>
          </a:prstGeom>
          <a:solidFill>
            <a:srgbClr val="DDE4D6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1956792"/>
            <a:ext cx="87608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76838" y="2259013"/>
            <a:ext cx="2031850" cy="19050"/>
          </a:xfrm>
          <a:prstGeom prst="rect">
            <a:avLst/>
          </a:prstGeom>
          <a:solidFill>
            <a:srgbClr val="E8A9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76838" y="2423735"/>
            <a:ext cx="203194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Validated question flow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6838" y="3173948"/>
            <a:ext cx="2031949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DSM-5 Level 1 Cross-Cutting Symptom Measure, PHQ-9, and GAD-7 inform prompts from a curated question bank.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042174" y="1728192"/>
            <a:ext cx="2489138" cy="3779738"/>
          </a:xfrm>
          <a:prstGeom prst="roundRect">
            <a:avLst>
              <a:gd name="adj" fmla="val 9796"/>
            </a:avLst>
          </a:prstGeom>
          <a:solidFill>
            <a:srgbClr val="E8A93A"/>
          </a:solidFill>
          <a:ln/>
        </p:spPr>
      </p:sp>
      <p:sp>
        <p:nvSpPr>
          <p:cNvPr id="20" name="Text 18"/>
          <p:cNvSpPr/>
          <p:nvPr/>
        </p:nvSpPr>
        <p:spPr>
          <a:xfrm>
            <a:off x="9270768" y="1956792"/>
            <a:ext cx="88371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270768" y="2259013"/>
            <a:ext cx="2031850" cy="19050"/>
          </a:xfrm>
          <a:prstGeom prst="rect">
            <a:avLst/>
          </a:prstGeom>
          <a:solidFill>
            <a:srgbClr val="E8A93A"/>
          </a:solidFill>
          <a:ln/>
        </p:spPr>
      </p:sp>
      <p:sp>
        <p:nvSpPr>
          <p:cNvPr id="22" name="Text 20"/>
          <p:cNvSpPr/>
          <p:nvPr/>
        </p:nvSpPr>
        <p:spPr>
          <a:xfrm>
            <a:off x="9270768" y="2423735"/>
            <a:ext cx="203194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Impact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70768" y="2876788"/>
            <a:ext cx="2031949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Patients arrive with their story organized. Clinicians start with context instead of reconstructing every symptom.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60383" y="5736530"/>
            <a:ext cx="10870928" cy="841970"/>
          </a:xfrm>
          <a:prstGeom prst="roundRect">
            <a:avLst>
              <a:gd name="adj" fmla="val 10769"/>
            </a:avLst>
          </a:prstGeom>
          <a:solidFill>
            <a:srgbClr val="FCF2B5"/>
          </a:solidFill>
          <a:ln/>
        </p:spPr>
      </p:sp>
      <p:sp>
        <p:nvSpPr>
          <p:cNvPr id="25" name="Text 23"/>
          <p:cNvSpPr/>
          <p:nvPr/>
        </p:nvSpPr>
        <p:spPr>
          <a:xfrm>
            <a:off x="876278" y="6016566"/>
            <a:ext cx="1104872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Patient-reported, not a diagnosis. For clinician review.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226B68"/>
          </a:solidFill>
          <a:ln/>
        </p:spPr>
      </p:sp>
      <p:sp>
        <p:nvSpPr>
          <p:cNvPr id="3" name="Text 1"/>
          <p:cNvSpPr/>
          <p:nvPr/>
        </p:nvSpPr>
        <p:spPr>
          <a:xfrm>
            <a:off x="660383" y="331089"/>
            <a:ext cx="1087092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34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From welcome to clinician handoff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60383" y="1006713"/>
            <a:ext cx="1148051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 friendly chat becomes a structured, privacy-first handoff.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1600200"/>
            <a:ext cx="12191695" cy="5257800"/>
          </a:xfrm>
          <a:prstGeom prst="rect">
            <a:avLst/>
          </a:prstGeom>
          <a:solidFill>
            <a:srgbClr val="DDEA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701800"/>
            <a:ext cx="10870928" cy="4851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86689"/>
            <a:ext cx="1087092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34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Privacy and safety are built into the experience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0383" y="1352153"/>
            <a:ext cx="3521979" cy="2531566"/>
          </a:xfrm>
          <a:prstGeom prst="roundRect">
            <a:avLst>
              <a:gd name="adj" fmla="val 9632"/>
            </a:avLst>
          </a:prstGeom>
          <a:solidFill>
            <a:srgbClr val="DDE4D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479153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179" y="2104946"/>
            <a:ext cx="316638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Quick Exit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38179" y="2557998"/>
            <a:ext cx="316638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Corner button or two Esc presses wipes screen and redirects to a neutral page.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334759" y="1352153"/>
            <a:ext cx="3522078" cy="2531566"/>
          </a:xfrm>
          <a:prstGeom prst="roundRect">
            <a:avLst>
              <a:gd name="adj" fmla="val 9632"/>
            </a:avLst>
          </a:prstGeom>
          <a:solidFill>
            <a:srgbClr val="EDE3D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54" y="1479153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12554" y="2104946"/>
            <a:ext cx="316648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Auto-Purge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512554" y="2557998"/>
            <a:ext cx="3166487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Visible 30–60 minute timer deletes transcripts and temporary variables; users can extend the session.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009233" y="1352153"/>
            <a:ext cx="3521979" cy="2531566"/>
          </a:xfrm>
          <a:prstGeom prst="roundRect">
            <a:avLst>
              <a:gd name="adj" fmla="val 9632"/>
            </a:avLst>
          </a:prstGeom>
          <a:solidFill>
            <a:srgbClr val="DDE4D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029" y="1479153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7029" y="2104946"/>
            <a:ext cx="316638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Consent &amp; Delete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187029" y="2557998"/>
            <a:ext cx="316638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App explains storage and retention; “Delete everything” always available.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60383" y="4036120"/>
            <a:ext cx="5359167" cy="1927126"/>
          </a:xfrm>
          <a:prstGeom prst="roundRect">
            <a:avLst>
              <a:gd name="adj" fmla="val 12653"/>
            </a:avLst>
          </a:prstGeom>
          <a:solidFill>
            <a:srgbClr val="EDE3D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4163120"/>
            <a:ext cx="431789" cy="431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8179" y="4788912"/>
            <a:ext cx="500357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PIN + biometrics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838179" y="5241965"/>
            <a:ext cx="500357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Local 4-digit PIN with PBKDF2 and optional WebAuthn unlock.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171946" y="4036120"/>
            <a:ext cx="5359266" cy="1927126"/>
          </a:xfrm>
          <a:prstGeom prst="roundRect">
            <a:avLst>
              <a:gd name="adj" fmla="val 12653"/>
            </a:avLst>
          </a:prstGeom>
          <a:solidFill>
            <a:srgbClr val="E8A93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742" y="4163120"/>
            <a:ext cx="431789" cy="431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49742" y="4788912"/>
            <a:ext cx="500367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QR privacy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6349742" y="5241965"/>
            <a:ext cx="500367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Short-lived, one-time-use access token grants the handoff. QR does not contain patient data.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6858000"/>
          </a:xfrm>
          <a:prstGeom prst="roundRect">
            <a:avLst>
              <a:gd name="adj" fmla="val 5667"/>
            </a:avLst>
          </a:prstGeom>
          <a:solidFill>
            <a:srgbClr val="D873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027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9801" y="0"/>
            <a:ext cx="7431894" cy="6858000"/>
          </a:xfrm>
          <a:prstGeom prst="rect">
            <a:avLst/>
          </a:prstGeom>
          <a:solidFill>
            <a:srgbClr val="F4E8D8"/>
          </a:solidFill>
          <a:ln/>
        </p:spPr>
      </p:sp>
      <p:sp>
        <p:nvSpPr>
          <p:cNvPr id="5" name="Text 2"/>
          <p:cNvSpPr/>
          <p:nvPr/>
        </p:nvSpPr>
        <p:spPr>
          <a:xfrm>
            <a:off x="5420185" y="685521"/>
            <a:ext cx="6111127" cy="827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00000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Interactive support and an offline emergency safety net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20185" y="1678298"/>
            <a:ext cx="6720712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Supportive tools stay available when the connection does not.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493" y="2167870"/>
            <a:ext cx="383173" cy="3831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1153" y="2270138"/>
            <a:ext cx="2266000" cy="1265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Grounding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4-4-4-4 box breathing, 5-4-3-2-1 sensory grounding, and a tappable body-scan visualizer.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650" y="2167870"/>
            <a:ext cx="383173" cy="3831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65311" y="2270138"/>
            <a:ext cx="2266000" cy="1265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Crisis boundary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Self-harm or suicide signals pause the intake and open a supportive safety card.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493" y="4069298"/>
            <a:ext cx="383173" cy="38318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81153" y="4171566"/>
            <a:ext cx="2266000" cy="1265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Offline directory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Verified regional helplines, youth counseling services, and community clinics in static JSON.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8650" y="4069298"/>
            <a:ext cx="383173" cy="38318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65311" y="4171566"/>
            <a:ext cx="2266000" cy="1265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Tap-to-call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Standard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tel: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 links open the native dialer. Calls need cellular service, not data.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5420185" y="5584230"/>
            <a:ext cx="6111127" cy="985044"/>
          </a:xfrm>
          <a:prstGeom prst="roundRect">
            <a:avLst>
              <a:gd name="adj" fmla="val 8169"/>
            </a:avLst>
          </a:prstGeom>
          <a:solidFill>
            <a:srgbClr val="FAEBD1"/>
          </a:solidFill>
          <a:ln/>
        </p:spPr>
      </p:sp>
      <p:sp>
        <p:nvSpPr>
          <p:cNvPr id="16" name="Text 9"/>
          <p:cNvSpPr/>
          <p:nvPr/>
        </p:nvSpPr>
        <p:spPr>
          <a:xfrm>
            <a:off x="5611771" y="5836556"/>
            <a:ext cx="5727954" cy="50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The bot never gives diagnoses, medication advice, or treatment instructions.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8469398" y="2078534"/>
            <a:ext cx="12700" cy="1672828"/>
          </a:xfrm>
          <a:prstGeom prst="rect">
            <a:avLst/>
          </a:prstGeom>
          <a:solidFill>
            <a:srgbClr val="D6CDBD"/>
          </a:solidFill>
          <a:ln/>
        </p:spPr>
      </p:sp>
      <p:sp>
        <p:nvSpPr>
          <p:cNvPr id="18" name="Shape 11"/>
          <p:cNvSpPr/>
          <p:nvPr/>
        </p:nvSpPr>
        <p:spPr>
          <a:xfrm>
            <a:off x="5420185" y="3745012"/>
            <a:ext cx="3055563" cy="12700"/>
          </a:xfrm>
          <a:prstGeom prst="rect">
            <a:avLst/>
          </a:prstGeom>
          <a:solidFill>
            <a:srgbClr val="D6CDBD"/>
          </a:solidFill>
          <a:ln/>
        </p:spPr>
      </p:sp>
      <p:sp>
        <p:nvSpPr>
          <p:cNvPr id="19" name="Shape 12"/>
          <p:cNvSpPr/>
          <p:nvPr/>
        </p:nvSpPr>
        <p:spPr>
          <a:xfrm>
            <a:off x="8469398" y="3751362"/>
            <a:ext cx="12700" cy="1672828"/>
          </a:xfrm>
          <a:prstGeom prst="rect">
            <a:avLst/>
          </a:prstGeom>
          <a:solidFill>
            <a:srgbClr val="D6CDBD"/>
          </a:solidFill>
          <a:ln/>
        </p:spPr>
      </p:sp>
      <p:sp>
        <p:nvSpPr>
          <p:cNvPr id="20" name="Shape 13"/>
          <p:cNvSpPr/>
          <p:nvPr/>
        </p:nvSpPr>
        <p:spPr>
          <a:xfrm>
            <a:off x="8475748" y="3745012"/>
            <a:ext cx="3055563" cy="12700"/>
          </a:xfrm>
          <a:prstGeom prst="rect">
            <a:avLst/>
          </a:prstGeom>
          <a:solidFill>
            <a:srgbClr val="D6CDB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40783" cy="6858000"/>
          </a:xfrm>
          <a:prstGeom prst="rect">
            <a:avLst/>
          </a:prstGeom>
          <a:solidFill>
            <a:srgbClr val="8C5E0E"/>
          </a:solidFill>
          <a:ln/>
        </p:spPr>
      </p:sp>
      <p:sp>
        <p:nvSpPr>
          <p:cNvPr id="3" name="Text 1"/>
          <p:cNvSpPr/>
          <p:nvPr/>
        </p:nvSpPr>
        <p:spPr>
          <a:xfrm>
            <a:off x="660383" y="686689"/>
            <a:ext cx="5720016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34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Clinician handoff and benefits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60383" y="1818481"/>
            <a:ext cx="5720016" cy="319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For patients: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 lower-friction conversation, privacy controls, accessible grounding tools, and English, Spanish, or Hindi support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For clinicians: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 structured symptom domains, physical-tension notes, daily distress trends, and a printable one-page intake form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Handoff: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 a one-time QR token gives the clinician access without putting patient data into the QR code itself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Commissioner Bold" pitchFamily="34" charset="0"/>
                <a:ea typeface="Commissioner Bold" pitchFamily="34" charset="-122"/>
                <a:cs typeface="Commissioner Bold" pitchFamily="34" charset="-120"/>
              </a:rPr>
              <a:t>Boundary: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 the summary supports clinician judgment; it is not a diagnosis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7873" y="0"/>
            <a:ext cx="4693822" cy="6858000"/>
          </a:xfrm>
          <a:prstGeom prst="roundRect">
            <a:avLst>
              <a:gd name="adj" fmla="val 5195"/>
            </a:avLst>
          </a:prstGeom>
          <a:solidFill>
            <a:srgbClr val="2E6FA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8256" y="660400"/>
            <a:ext cx="3373055" cy="50323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8256" y="5799931"/>
            <a:ext cx="337305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Commissioner Medium" pitchFamily="34" charset="0"/>
                <a:ea typeface="Commissioner Medium" pitchFamily="34" charset="-122"/>
                <a:cs typeface="Commissioner Medium" pitchFamily="34" charset="-120"/>
              </a:rPr>
              <a:t>A concise, structured starting point for clinician review.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80187"/>
            <a:ext cx="10870928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6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Feasibility, scalability, and tech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0383" y="1168120"/>
            <a:ext cx="11480513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Start local. Add regions and integrations without rebuilding the experience.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0383" y="1479153"/>
            <a:ext cx="5283068" cy="1079302"/>
          </a:xfrm>
          <a:prstGeom prst="roundRect">
            <a:avLst>
              <a:gd name="adj" fmla="val 22592"/>
            </a:avLst>
          </a:prstGeom>
          <a:solidFill>
            <a:srgbClr val="DDE4D6"/>
          </a:solidFill>
          <a:ln/>
        </p:spPr>
      </p:sp>
      <p:sp>
        <p:nvSpPr>
          <p:cNvPr id="5" name="Text 3"/>
          <p:cNvSpPr/>
          <p:nvPr/>
        </p:nvSpPr>
        <p:spPr>
          <a:xfrm>
            <a:off x="965176" y="1650552"/>
            <a:ext cx="4673483" cy="26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Progressive Web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176" y="2009495"/>
            <a:ext cx="497827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Link-based access and offline operation.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8244" y="1479153"/>
            <a:ext cx="5283068" cy="1079302"/>
          </a:xfrm>
          <a:prstGeom prst="roundRect">
            <a:avLst>
              <a:gd name="adj" fmla="val 22592"/>
            </a:avLst>
          </a:prstGeom>
          <a:solidFill>
            <a:srgbClr val="EDE3D3"/>
          </a:solidFill>
          <a:ln/>
        </p:spPr>
      </p:sp>
      <p:sp>
        <p:nvSpPr>
          <p:cNvPr id="8" name="Text 6"/>
          <p:cNvSpPr/>
          <p:nvPr/>
        </p:nvSpPr>
        <p:spPr>
          <a:xfrm>
            <a:off x="6553036" y="1650552"/>
            <a:ext cx="4673483" cy="26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Local 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3036" y="2009495"/>
            <a:ext cx="497827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Less dependence on backend infrastructure.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0383" y="2863255"/>
            <a:ext cx="5283068" cy="1079302"/>
          </a:xfrm>
          <a:prstGeom prst="roundRect">
            <a:avLst>
              <a:gd name="adj" fmla="val 22592"/>
            </a:avLst>
          </a:prstGeom>
          <a:solidFill>
            <a:srgbClr val="DDE4D6"/>
          </a:solidFill>
          <a:ln/>
        </p:spPr>
      </p:sp>
      <p:sp>
        <p:nvSpPr>
          <p:cNvPr id="11" name="Text 9"/>
          <p:cNvSpPr/>
          <p:nvPr/>
        </p:nvSpPr>
        <p:spPr>
          <a:xfrm>
            <a:off x="965176" y="3034653"/>
            <a:ext cx="4673483" cy="26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New regions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176" y="3393597"/>
            <a:ext cx="497827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Localized static JSON dictionaries add regional content.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8244" y="2863255"/>
            <a:ext cx="5283068" cy="1079302"/>
          </a:xfrm>
          <a:prstGeom prst="roundRect">
            <a:avLst>
              <a:gd name="adj" fmla="val 22592"/>
            </a:avLst>
          </a:prstGeom>
          <a:solidFill>
            <a:srgbClr val="EDE3D3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36" y="3034653"/>
            <a:ext cx="4673483" cy="26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Future-ready handoff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53036" y="3393597"/>
            <a:ext cx="4673483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Clinics can white-label the code. Future payloads can be shaped for HL7/FHIR-compatible EMR integration.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0383" y="4075578"/>
            <a:ext cx="10870928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10" kern="100" dirty="0">
                <a:solidFill>
                  <a:srgbClr val="FFFFFF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0383" y="4300736"/>
            <a:ext cx="2097928" cy="792559"/>
          </a:xfrm>
          <a:prstGeom prst="rect">
            <a:avLst/>
          </a:prstGeom>
          <a:solidFill>
            <a:srgbClr val="DDE4D6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4376936"/>
            <a:ext cx="249231" cy="3322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61981" y="4802441"/>
            <a:ext cx="1894733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HTML5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910708" y="4300736"/>
            <a:ext cx="2021829" cy="792559"/>
          </a:xfrm>
          <a:prstGeom prst="rect">
            <a:avLst/>
          </a:prstGeom>
          <a:solidFill>
            <a:srgbClr val="EDE3D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305" y="4376936"/>
            <a:ext cx="249231" cy="3322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012305" y="4802441"/>
            <a:ext cx="1818634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CSS3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084933" y="4300736"/>
            <a:ext cx="2021730" cy="792559"/>
          </a:xfrm>
          <a:prstGeom prst="rect">
            <a:avLst/>
          </a:prstGeom>
          <a:solidFill>
            <a:srgbClr val="DDE4D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530" y="4376936"/>
            <a:ext cx="290803" cy="3322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86530" y="4802441"/>
            <a:ext cx="181853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Vanilla JS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259059" y="4300736"/>
            <a:ext cx="2021829" cy="792559"/>
          </a:xfrm>
          <a:prstGeom prst="rect">
            <a:avLst/>
          </a:prstGeom>
          <a:solidFill>
            <a:srgbClr val="EDE3D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656" y="4376936"/>
            <a:ext cx="332374" cy="33238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0656" y="4802540"/>
            <a:ext cx="1818634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PWA Service Workers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433284" y="4300736"/>
            <a:ext cx="2097928" cy="792559"/>
          </a:xfrm>
          <a:prstGeom prst="rect">
            <a:avLst/>
          </a:prstGeom>
          <a:solidFill>
            <a:srgbClr val="DDE4D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882" y="4376936"/>
            <a:ext cx="332374" cy="33238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34882" y="4802540"/>
            <a:ext cx="1894733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compromise.js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660383" y="5245596"/>
            <a:ext cx="2097928" cy="792758"/>
          </a:xfrm>
          <a:prstGeom prst="rect">
            <a:avLst/>
          </a:prstGeom>
          <a:solidFill>
            <a:srgbClr val="EDE3D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5321796"/>
            <a:ext cx="332374" cy="33238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61981" y="5747400"/>
            <a:ext cx="1894733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qrious.js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2910708" y="5245596"/>
            <a:ext cx="2021829" cy="792758"/>
          </a:xfrm>
          <a:prstGeom prst="rect">
            <a:avLst/>
          </a:prstGeom>
          <a:solidFill>
            <a:srgbClr val="DDE4D6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2305" y="5321796"/>
            <a:ext cx="332374" cy="33238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012305" y="5747400"/>
            <a:ext cx="1818634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IndexedDB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5084933" y="5245596"/>
            <a:ext cx="2021730" cy="792758"/>
          </a:xfrm>
          <a:prstGeom prst="rect">
            <a:avLst/>
          </a:prstGeom>
          <a:solidFill>
            <a:srgbClr val="EDE3D3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6530" y="5321796"/>
            <a:ext cx="332374" cy="332383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186530" y="5747400"/>
            <a:ext cx="181853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AES-GCM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7259059" y="5245596"/>
            <a:ext cx="2021829" cy="792758"/>
          </a:xfrm>
          <a:prstGeom prst="rect">
            <a:avLst/>
          </a:prstGeom>
          <a:solidFill>
            <a:srgbClr val="DDE4D6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656" y="5321796"/>
            <a:ext cx="332374" cy="332383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360656" y="5747400"/>
            <a:ext cx="1818634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WebAuthn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9433284" y="5245596"/>
            <a:ext cx="2097928" cy="792758"/>
          </a:xfrm>
          <a:prstGeom prst="rect">
            <a:avLst/>
          </a:prstGeom>
          <a:solidFill>
            <a:srgbClr val="EDE3D3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4882" y="5321796"/>
            <a:ext cx="332374" cy="332383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9534882" y="5747400"/>
            <a:ext cx="1894733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Web Speech API</a:t>
            </a:r>
            <a:endParaRPr lang="en-US" sz="1400" dirty="0"/>
          </a:p>
        </p:txBody>
      </p:sp>
      <p:sp>
        <p:nvSpPr>
          <p:cNvPr id="47" name="Shape 35"/>
          <p:cNvSpPr/>
          <p:nvPr/>
        </p:nvSpPr>
        <p:spPr>
          <a:xfrm>
            <a:off x="660383" y="6190655"/>
            <a:ext cx="10870829" cy="792559"/>
          </a:xfrm>
          <a:prstGeom prst="rect">
            <a:avLst/>
          </a:prstGeom>
          <a:solidFill>
            <a:srgbClr val="DDE4D6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981" y="6266855"/>
            <a:ext cx="332374" cy="332383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61981" y="6692459"/>
            <a:ext cx="10667634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SVG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24681"/>
            <a:ext cx="113789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BEFORE REAL-PATIENT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1182" y="934339"/>
            <a:ext cx="10769331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34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Challenges and boundaries before launch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1182" y="2868434"/>
            <a:ext cx="523226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Clinical validity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1182" y="3321487"/>
            <a:ext cx="523226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Clinician review of question selection, domain mapping, and crisis responses.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48244" y="2868434"/>
            <a:ext cx="523226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Safety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48244" y="3321487"/>
            <a:ext cx="523226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Reliable escalation language without diagnosing or giving treatment instructions.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1182" y="4236660"/>
            <a:ext cx="523226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Privacy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1182" y="4689713"/>
            <a:ext cx="523226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Threat modeling for shared devices, QR access, browser storage, and optional voice processing.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48244" y="4236660"/>
            <a:ext cx="523226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Data governance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48244" y="4689713"/>
            <a:ext cx="523226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HIPAA/GDPR-level planning before server storage or real-patient deployment.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1182" y="5604887"/>
            <a:ext cx="1076933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mmissioner SemiBold" pitchFamily="34" charset="0"/>
                <a:ea typeface="Commissioner SemiBold" pitchFamily="34" charset="-122"/>
                <a:cs typeface="Commissioner SemiBold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1182" y="6057940"/>
            <a:ext cx="1076933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Validate the prototype with clinicians and patient advocates, then test the question bank and crisis flows.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2026-10-10T01:12:26Z</dcterms:created>
  <dcterms:modified xsi:type="dcterms:W3CDTF">2026-10-10T01:12:26Z</dcterms:modified>
</cp:coreProperties>
</file>